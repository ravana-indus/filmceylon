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45b615e3048fc" /><Relationship Type="http://schemas.openxmlformats.org/officeDocument/2006/relationships/extended-properties" Target="/docProps/app.xml" Id="R366f5af3a6bf422c" /><Relationship Type="http://schemas.openxmlformats.org/officeDocument/2006/relationships/officeDocument" Target="/ppt/presentation.xml" Id="R51326fd37f204a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b2cc0ba7ec4f14"/>
  </p:sldMasterIdLst>
  <p:notesMasterIdLst>
    <p:notesMasterId xmlns:r="http://schemas.openxmlformats.org/officeDocument/2006/relationships" r:id="R285fb04dc8064252"/>
  </p:notesMasterIdLst>
  <p:sldIdLst>
    <p:sldId xmlns:r="http://schemas.openxmlformats.org/officeDocument/2006/relationships" id="256" r:id="Re4bccd4bd112472f"/>
    <p:sldId xmlns:r="http://schemas.openxmlformats.org/officeDocument/2006/relationships" id="257" r:id="R22a463facf7c40b0"/>
    <p:sldId xmlns:r="http://schemas.openxmlformats.org/officeDocument/2006/relationships" id="258" r:id="Rb7d63d3fd9544d20"/>
    <p:sldId xmlns:r="http://schemas.openxmlformats.org/officeDocument/2006/relationships" id="259" r:id="Rc50a9e831ef54c2b"/>
    <p:sldId xmlns:r="http://schemas.openxmlformats.org/officeDocument/2006/relationships" id="260" r:id="Rd0f93258537a4252"/>
    <p:sldId xmlns:r="http://schemas.openxmlformats.org/officeDocument/2006/relationships" id="261" r:id="Rb5b049428b8d47a7"/>
    <p:sldId xmlns:r="http://schemas.openxmlformats.org/officeDocument/2006/relationships" id="262" r:id="Rec646f4af22849b9"/>
    <p:sldId xmlns:r="http://schemas.openxmlformats.org/officeDocument/2006/relationships" id="263" r:id="R64621b4b5eab4f27"/>
    <p:sldId xmlns:r="http://schemas.openxmlformats.org/officeDocument/2006/relationships" id="264" r:id="R1e48fb4a63cd4dc5"/>
    <p:sldId xmlns:r="http://schemas.openxmlformats.org/officeDocument/2006/relationships" id="265" r:id="R489af72f9e494859"/>
    <p:sldId xmlns:r="http://schemas.openxmlformats.org/officeDocument/2006/relationships" id="266" r:id="Rdaaf27d9de5a4bf8"/>
    <p:sldId xmlns:r="http://schemas.openxmlformats.org/officeDocument/2006/relationships" id="267" r:id="R95dac26061a146dd"/>
    <p:sldId xmlns:r="http://schemas.openxmlformats.org/officeDocument/2006/relationships" id="268" r:id="Rddb51cc970864d93"/>
    <p:sldId xmlns:r="http://schemas.openxmlformats.org/officeDocument/2006/relationships" id="269" r:id="R8f7b7752cb584e78"/>
    <p:sldId xmlns:r="http://schemas.openxmlformats.org/officeDocument/2006/relationships" id="270" r:id="R39bd4bb074a6477a"/>
    <p:sldId xmlns:r="http://schemas.openxmlformats.org/officeDocument/2006/relationships" id="271" r:id="Rbc0066dace1744fc"/>
    <p:sldId xmlns:r="http://schemas.openxmlformats.org/officeDocument/2006/relationships" id="272" r:id="Rd7d3fbf9a91044a0"/>
    <p:sldId xmlns:r="http://schemas.openxmlformats.org/officeDocument/2006/relationships" id="273" r:id="R153c5268ae134a36"/>
    <p:sldId xmlns:r="http://schemas.openxmlformats.org/officeDocument/2006/relationships" id="274" r:id="R5b774ec864cd48a0"/>
    <p:sldId xmlns:r="http://schemas.openxmlformats.org/officeDocument/2006/relationships" id="275" r:id="R2b2fee93956a49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2cc0ba7ec4f14" /><Relationship Type="http://schemas.openxmlformats.org/officeDocument/2006/relationships/theme" Target="/ppt/theme/theme1.xml" Id="R116c5f922c964ffc" /><Relationship Type="http://schemas.openxmlformats.org/officeDocument/2006/relationships/notesMaster" Target="/ppt/notesMasters/notesMaster1.xml" Id="R285fb04dc8064252" /><Relationship Type="http://schemas.openxmlformats.org/officeDocument/2006/relationships/presProps" Target="/ppt/presProps.xml" Id="R2d6a279678ce47a2" /><Relationship Type="http://schemas.openxmlformats.org/officeDocument/2006/relationships/viewProps" Target="/ppt/viewProps.xml" Id="Re6baacbf1e0846f5" /><Relationship Type="http://schemas.openxmlformats.org/officeDocument/2006/relationships/tableStyles" Target="/ppt/tableStyles.xml" Id="Ra12310f9bb0d4c2b" /><Relationship Type="http://schemas.openxmlformats.org/officeDocument/2006/relationships/slide" Target="/ppt/slides/slide1.xml" Id="Re4bccd4bd112472f" /><Relationship Type="http://schemas.openxmlformats.org/officeDocument/2006/relationships/slide" Target="/ppt/slides/slide2.xml" Id="R22a463facf7c40b0" /><Relationship Type="http://schemas.openxmlformats.org/officeDocument/2006/relationships/slide" Target="/ppt/slides/slide3.xml" Id="Rb7d63d3fd9544d20" /><Relationship Type="http://schemas.openxmlformats.org/officeDocument/2006/relationships/slide" Target="/ppt/slides/slide4.xml" Id="Rc50a9e831ef54c2b" /><Relationship Type="http://schemas.openxmlformats.org/officeDocument/2006/relationships/slide" Target="/ppt/slides/slide5.xml" Id="Rd0f93258537a4252" /><Relationship Type="http://schemas.openxmlformats.org/officeDocument/2006/relationships/slide" Target="/ppt/slides/slide6.xml" Id="Rb5b049428b8d47a7" /><Relationship Type="http://schemas.openxmlformats.org/officeDocument/2006/relationships/slide" Target="/ppt/slides/slide7.xml" Id="Rec646f4af22849b9" /><Relationship Type="http://schemas.openxmlformats.org/officeDocument/2006/relationships/slide" Target="/ppt/slides/slide8.xml" Id="R64621b4b5eab4f27" /><Relationship Type="http://schemas.openxmlformats.org/officeDocument/2006/relationships/slide" Target="/ppt/slides/slide9.xml" Id="R1e48fb4a63cd4dc5" /><Relationship Type="http://schemas.openxmlformats.org/officeDocument/2006/relationships/slide" Target="/ppt/slides/slide10.xml" Id="R489af72f9e494859" /><Relationship Type="http://schemas.openxmlformats.org/officeDocument/2006/relationships/slide" Target="/ppt/slides/slide11.xml" Id="Rdaaf27d9de5a4bf8" /><Relationship Type="http://schemas.openxmlformats.org/officeDocument/2006/relationships/slide" Target="/ppt/slides/slide12.xml" Id="R95dac26061a146dd" /><Relationship Type="http://schemas.openxmlformats.org/officeDocument/2006/relationships/slide" Target="/ppt/slides/slide13.xml" Id="Rddb51cc970864d93" /><Relationship Type="http://schemas.openxmlformats.org/officeDocument/2006/relationships/slide" Target="/ppt/slides/slide14.xml" Id="R8f7b7752cb584e78" /><Relationship Type="http://schemas.openxmlformats.org/officeDocument/2006/relationships/slide" Target="/ppt/slides/slide15.xml" Id="R39bd4bb074a6477a" /><Relationship Type="http://schemas.openxmlformats.org/officeDocument/2006/relationships/slide" Target="/ppt/slides/slide16.xml" Id="Rbc0066dace1744fc" /><Relationship Type="http://schemas.openxmlformats.org/officeDocument/2006/relationships/slide" Target="/ppt/slides/slide17.xml" Id="Rd7d3fbf9a91044a0" /><Relationship Type="http://schemas.openxmlformats.org/officeDocument/2006/relationships/slide" Target="/ppt/slides/slide18.xml" Id="R153c5268ae134a36" /><Relationship Type="http://schemas.openxmlformats.org/officeDocument/2006/relationships/slide" Target="/ppt/slides/slide19.xml" Id="R5b774ec864cd48a0" /><Relationship Type="http://schemas.openxmlformats.org/officeDocument/2006/relationships/slide" Target="/ppt/slides/slide20.xml" Id="R2b2fee93956a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21baf05ed8a48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6bb33959cf4e33" /><Relationship Type="http://schemas.openxmlformats.org/officeDocument/2006/relationships/notesMaster" Target="/ppt/notesMasters/notesMaster1.xml" Id="Rd1d6ec8492454c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e5dab86cfa42aa" /><Relationship Type="http://schemas.openxmlformats.org/officeDocument/2006/relationships/notesMaster" Target="/ppt/notesMasters/notesMaster1.xml" Id="Ree91afdf2314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3ef97bfac4a9d" /><Relationship Type="http://schemas.openxmlformats.org/officeDocument/2006/relationships/notesMaster" Target="/ppt/notesMasters/notesMaster1.xml" Id="Rd6f45564f47242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f6f117eda4bde" /><Relationship Type="http://schemas.openxmlformats.org/officeDocument/2006/relationships/notesMaster" Target="/ppt/notesMasters/notesMaster1.xml" Id="R94006e7768e446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418d50ca174399" /><Relationship Type="http://schemas.openxmlformats.org/officeDocument/2006/relationships/notesMaster" Target="/ppt/notesMasters/notesMaster1.xml" Id="R5ee59684b4e341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d63380d85e4bf3" /><Relationship Type="http://schemas.openxmlformats.org/officeDocument/2006/relationships/notesMaster" Target="/ppt/notesMasters/notesMaster1.xml" Id="Re447d2bfc99b49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cd4268dc1943dd" /><Relationship Type="http://schemas.openxmlformats.org/officeDocument/2006/relationships/notesMaster" Target="/ppt/notesMasters/notesMaster1.xml" Id="Re9ac5d8baf5c45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5f244fd6ab4737" /><Relationship Type="http://schemas.openxmlformats.org/officeDocument/2006/relationships/notesMaster" Target="/ppt/notesMasters/notesMaster1.xml" Id="Rf870dc6cfcb54c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bcdf10470f4bb5" /><Relationship Type="http://schemas.openxmlformats.org/officeDocument/2006/relationships/notesMaster" Target="/ppt/notesMasters/notesMaster1.xml" Id="Rb35ba1fbf1d043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574065b0704b10" /><Relationship Type="http://schemas.openxmlformats.org/officeDocument/2006/relationships/notesMaster" Target="/ppt/notesMasters/notesMaster1.xml" Id="Rbc8a1867a17a46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e069c3c95849e9" /><Relationship Type="http://schemas.openxmlformats.org/officeDocument/2006/relationships/notesMaster" Target="/ppt/notesMasters/notesMaster1.xml" Id="R45f1e6f6e3ee4e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2d9858930840f5" /><Relationship Type="http://schemas.openxmlformats.org/officeDocument/2006/relationships/notesMaster" Target="/ppt/notesMasters/notesMaster1.xml" Id="Rcf2227a5021748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14cb7b2dc44ab7" /><Relationship Type="http://schemas.openxmlformats.org/officeDocument/2006/relationships/notesMaster" Target="/ppt/notesMasters/notesMaster1.xml" Id="Ra44e029b774145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bc01d807aa4362" /><Relationship Type="http://schemas.openxmlformats.org/officeDocument/2006/relationships/notesMaster" Target="/ppt/notesMasters/notesMaster1.xml" Id="R75787325f7df41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7599c0dc254929" /><Relationship Type="http://schemas.openxmlformats.org/officeDocument/2006/relationships/notesMaster" Target="/ppt/notesMasters/notesMaster1.xml" Id="Rf25cd3826d2048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98b6c078f640bd" /><Relationship Type="http://schemas.openxmlformats.org/officeDocument/2006/relationships/notesMaster" Target="/ppt/notesMasters/notesMaster1.xml" Id="Rb00b1d2e949c43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75d413b6574512" /><Relationship Type="http://schemas.openxmlformats.org/officeDocument/2006/relationships/notesMaster" Target="/ppt/notesMasters/notesMaster1.xml" Id="R2cdf37fdd26f4d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7b663678694b06" /><Relationship Type="http://schemas.openxmlformats.org/officeDocument/2006/relationships/notesMaster" Target="/ppt/notesMasters/notesMaster1.xml" Id="R1e977d6f11a846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7b9aa1e0784c05" /><Relationship Type="http://schemas.openxmlformats.org/officeDocument/2006/relationships/notesMaster" Target="/ppt/notesMasters/notesMaster1.xml" Id="R89e59336aea440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a8b0789b454426" /><Relationship Type="http://schemas.openxmlformats.org/officeDocument/2006/relationships/notesMaster" Target="/ppt/notesMasters/notesMaster1.xml" Id="R16f206e5949546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de7e136344e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0fa7302057f463d" /><Relationship Type="http://schemas.openxmlformats.org/officeDocument/2006/relationships/slideLayout" Target="/ppt/slideLayouts/slideLayout2.xml" Id="Rc50629d7443948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0629d7443948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18519930fa46b4" /><Relationship Type="http://schemas.openxmlformats.org/officeDocument/2006/relationships/notesSlide" Target="/ppt/notesSlides/notesSlide1.xml" Id="Rf60892d858fd4c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5f100ceb77497f" /><Relationship Type="http://schemas.openxmlformats.org/officeDocument/2006/relationships/notesSlide" Target="/ppt/notesSlides/notesSlide2.xml" Id="Rdce07c16e50445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e89003218f47b7" /><Relationship Type="http://schemas.openxmlformats.org/officeDocument/2006/relationships/notesSlide" Target="/ppt/notesSlides/notesSlide3.xml" Id="R4005a1d74dc44c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6ff2f4df1406d" /><Relationship Type="http://schemas.openxmlformats.org/officeDocument/2006/relationships/notesSlide" Target="/ppt/notesSlides/notesSlide4.xml" Id="R1b14c927ca7e40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e2ef09fe3b43d7" /><Relationship Type="http://schemas.openxmlformats.org/officeDocument/2006/relationships/notesSlide" Target="/ppt/notesSlides/notesSlide5.xml" Id="R20d8259b4a3541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29f38feea6426b" /><Relationship Type="http://schemas.openxmlformats.org/officeDocument/2006/relationships/notesSlide" Target="/ppt/notesSlides/notesSlide6.xml" Id="R32520f48953c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277a84ef364f9b" /><Relationship Type="http://schemas.openxmlformats.org/officeDocument/2006/relationships/notesSlide" Target="/ppt/notesSlides/notesSlide7.xml" Id="R1ecef865dc6f4a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4c488f089b4d59" /><Relationship Type="http://schemas.openxmlformats.org/officeDocument/2006/relationships/notesSlide" Target="/ppt/notesSlides/notesSlide8.xml" Id="Rddf91be0ee2a4f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49c439822c4272" /><Relationship Type="http://schemas.openxmlformats.org/officeDocument/2006/relationships/notesSlide" Target="/ppt/notesSlides/notesSlide9.xml" Id="Rc2091010f82149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aa3475d5364b40" /><Relationship Type="http://schemas.openxmlformats.org/officeDocument/2006/relationships/notesSlide" Target="/ppt/notesSlides/notesSlide10.xml" Id="Re82ecdafadc946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d7c306d914edd" /><Relationship Type="http://schemas.openxmlformats.org/officeDocument/2006/relationships/notesSlide" Target="/ppt/notesSlides/notesSlide11.xml" Id="R5c8fa5df36cb41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de8a0d6864513" /><Relationship Type="http://schemas.openxmlformats.org/officeDocument/2006/relationships/notesSlide" Target="/ppt/notesSlides/notesSlide12.xml" Id="Rc5227f9d213d42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96eb4ed4544782" /><Relationship Type="http://schemas.openxmlformats.org/officeDocument/2006/relationships/notesSlide" Target="/ppt/notesSlides/notesSlide13.xml" Id="R7f2d997ea7da46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368b4c2430492e" /><Relationship Type="http://schemas.openxmlformats.org/officeDocument/2006/relationships/notesSlide" Target="/ppt/notesSlides/notesSlide14.xml" Id="Rbab4d75b6d664b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a5591e4b59400c" /><Relationship Type="http://schemas.openxmlformats.org/officeDocument/2006/relationships/notesSlide" Target="/ppt/notesSlides/notesSlide15.xml" Id="R53d59756bc8c49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b9db2cb9004cc0" /><Relationship Type="http://schemas.openxmlformats.org/officeDocument/2006/relationships/notesSlide" Target="/ppt/notesSlides/notesSlide16.xml" Id="Rf856db5cd33343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80af7917d44015" /><Relationship Type="http://schemas.openxmlformats.org/officeDocument/2006/relationships/notesSlide" Target="/ppt/notesSlides/notesSlide17.xml" Id="Rc0bd9f8571ed4a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ff89b3eb1942a5" /><Relationship Type="http://schemas.openxmlformats.org/officeDocument/2006/relationships/notesSlide" Target="/ppt/notesSlides/notesSlide18.xml" Id="R49d290447b4142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004155ebc4e50" /><Relationship Type="http://schemas.openxmlformats.org/officeDocument/2006/relationships/notesSlide" Target="/ppt/notesSlides/notesSlide19.xml" Id="R675905ff1ea341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afadcb0fe74f95" /><Relationship Type="http://schemas.openxmlformats.org/officeDocument/2006/relationships/notesSlide" Target="/ppt/notesSlides/notesSlide20.xml" Id="Rbd8ff18cda054a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EBA316-AEA5-4121-A6E8-2F47523D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6B36F-DC10-461E-9C62-343D578C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D35F7-93A3-47A1-90CA-F5729081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ECD80A5F-45A2-4660-8B18-6560E66C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E95EE6B0-10AA-4D77-8CE1-7227BC9D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INVESTOR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A06B5-1524-4A15-919E-AEE4F20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FILM CEYLON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2CFB1-E077-4C3A-9387-8FE6008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04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SRI LANKA'S INTERNATIONAL PRODUCTION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FD666-B8A8-410A-BC1F-6C77F6A0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Local access. International standards. Sri Lanka on screen.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86596-6C66-4E72-9358-06A67653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6371B-4265-4688-A4FD-E1297F8D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4CF4C-1A4E-439B-9C9D-8DADDADD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Strategic support in advertising, direct sales, stakeholder access, film-event participation, and project-based OPEX after signed production deals.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3A4BE-CFBD-4EB5-A85E-C4904054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5300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1D159-0C29-4D58-B065-02DD1014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00625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NO FIXED CASH AMOUNT NOW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036DF-6E75-4490-B79E-9D6F2313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Film Ceylon investor pitch | Updated strategic-support 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E1175-E023-4EC5-99BD-741DD8E3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23151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A44CA-A551-4C3A-86CF-7C8DCDA2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79C4954D-EAF1-4DD1-8832-EA8D3C5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BF607FD-45F3-4C54-9AA2-E18C2FAF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26E87-02F9-4AA1-85E8-68C2CF4D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MAKE SRI LANKA A SERIOUS FILMING DESTINATION FOR GLOBAL CREWS.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AFBA9-50C8-4BE5-A8FB-488224B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90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The vision is not only to attract productions; it is to make Sri Lanka easy to buy, easy to approve and easy to execute.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A5D10-8C49-4102-8413-8948AFE6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CD251-B0FC-4156-A1E6-08C47B79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INDIAN CINEMA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CCFD8-6D77-499C-A4AD-F7D7F5DE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Kollywood, Tollywood, Bollywood, Malayalam and Kannada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6E80A-0FB2-4AEF-83A7-C389F733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28875"/>
            <a:ext cx="457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983E9-1D0B-4822-B2FF-E33A07BA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EUROPE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7D183-1342-4DBE-87C4-C1A89B3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Documentaries, commercials, factual TV and art-house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900E3-F7D6-4CC1-8B81-C056F202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57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DF753-92BF-46CB-AE27-0088E5E8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NORTH AMERICA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C7A7D-4F46-47D3-961C-B557397E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Diaspora stories, factual, indie and second-unit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49585-AFEE-43D4-9488-5AACDDDA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457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BDD54-FEE9-4284-A7FB-0DDE0C00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HOLLYWOOD / STREAMERS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6B25A-6AEE-425B-AE86-23AE7F73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Plates, documentary units, South Asia doubles and remote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EB703-6828-4B4F-BCDE-25C73100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Vision based on updated deck content and Film Ceylon site positioning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C58A5-E7C1-4164-A17F-844FC6BD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30874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9870A-B549-49C0-9D13-9A2E5E75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250350F3-09B6-49CA-BD30-EC01CD1A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44D755E3-555E-438F-B101-AE1E32D1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TIMING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5AEE1-6D55-42F8-9BD5-A6DE72A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620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SRI LANKA IS RE-ENTERING THE INTERNATIONAL PRODUCTION CONVERSATION.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60FA6-6E68-4ED8-B35A-EF14D322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981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E2EEA-66F0-4360-80FD-C478FB6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590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Daily Mirror reported Indian producers and directors selecting Sri Lanka and tourist hotspots for film shooting, while noting Sri Lanka has historically been under-marketed as a film destination.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7D464-7AB8-4AA7-BDF4-B5E2FACA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5BE1F-01E9-4CD8-A448-1D1D6AB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Public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35AE2-0323-432B-8E50-E743F8B5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Indian film interest is visible. The missing layer is a professional gateway that converts attention into booked production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0B82A-9986-43AE-973E-30EE1451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Daily Mirror, May 28, 2025, Sri Lanka now a sought-after destination for Indian movies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E1435-5CDE-44B8-BFE8-C98B18B5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95097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25EF9-FB60-4B14-BBAF-6DE4DA58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8FF37-9CB1-4350-AD8C-7E267788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596C6144-D2BD-40EB-BEDC-9A0B863B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8C67D0AC-67E6-421B-9D2F-6AF7F7F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LOCATION ADVANTAGE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9ABD6-9373-4231-ABA5-798124BB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MANY CINEMATIC WORLDS IN ONE COMPACT ISLAND.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DB0FD-8198-444A-B921-B8635FDA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722FE-DB09-40A2-8681-D30965AD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574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BEACHES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A9CBC-E6DC-4937-87D0-21DBDB26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F00D9-967A-4DF0-BF78-04470D55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574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TEA ESTATES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22A60-DF00-405F-905A-B3772FF8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0030E-B114-47A2-933E-83E344E0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JUNGLES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2AE95-640A-431E-9B3E-B0619864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CC11D-E022-4E87-BC55-07F538F1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860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COLONIAL CITIES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90D9B-5AD9-4E47-B6EA-CEAC0553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1E83E-ADF8-457F-9D91-2A9C74B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RAILWAYS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64D9A-F469-4DC2-93FA-0359D9D3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C449D-AFDD-45B3-B9B0-0085954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147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TEMPLES &amp; KOVILS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976AA-6177-426B-810B-3F028073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7F46F-7199-4DC6-90B4-4D55EBB1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LUXURY RESORTS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9C0B1-B655-42EF-BC87-8EC41F75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767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4C093-3EC7-45C3-9A3C-36E73E78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433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FISHING VILLAGES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85750-D878-466F-8369-92000FED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3715E-2390-44CA-9206-95EFD2B8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NORTH/EAST TAMIL CULTURE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3B762-33BF-4D93-A367-0376B0F5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716F6-4602-4894-A6CD-F611E3CF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720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MODERN COLOMBO &amp; PORT 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08284D-D8CF-4050-B0EE-1FA4913C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904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3C9AFF-FF90-4490-A9B0-CC8559C6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Film Ceylon turns raw variety into packaged, permittable, budgetable production plans.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413C2-DA51-4E52-A123-4AD96D8F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Film Ceylon locations and updated 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6B5B3-D79F-4D47-B679-223925BD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07845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2D21E-1790-4953-B371-70E257EC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3269ED54-152B-46D1-BC4A-96D17BBE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915343E3-B579-4BC6-9775-48C3D5F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TOURISM TAILWIND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0C9C5-175A-4147-9D2B-93F6D249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TOURISM RECOVERY GIVES FILM PRODUCTION A READY ECONOMIC 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C3BAC-7F6F-4B61-9491-B1ECA45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Film production can become a high-value extension of tourism: hotels, transport, food, locations and creative labour.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B4FA-B8D5-44A6-A11F-D884E451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2.36M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7A43D-62E8-4C84-A2DD-236A2830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TOURIST ARRIVALS IN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EE7B4-0436-4434-8AEC-44DD9349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US$3.2B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E290D-7ECD-4CDF-B17A-1D34FAD7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TOURISM REVENUE IN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67944-5BA6-4B07-BC14-8F34DCBC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3.0M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C26C2-D5C4-42A1-9C3A-42A9623C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TARGET TOURIST ARRIVALS IN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7DB5D-D074-4331-B5F5-084D271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8B20A-8AB0-401E-BBDE-8A9F9BAF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Investor logic: tourism already sells the island; Film Ceylon sells the island as a production platform.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D16CD-B27B-40FC-B00E-343C8650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Reuters-syndicated report, Jan 5,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94E49-3534-4F87-8DCA-EF4A0462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27445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3250F-4150-4B09-B013-1DDADD1F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20E18FC-8A96-44ED-B41A-9EFCB344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B36059DF-4CB2-4B78-B11E-07FF38B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3FCCC-F8B6-48CF-A353-376F5756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81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FOREIGN PRODUCTIONS WANT SRI LANKA BUT LACK ONE TRUSTED GATEWAY.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BAD7A-BA43-48C1-BEE5-42A48235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CDDDC-C1CA-4D24-A168-97374E61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4183E-A3C0-460A-9C00-A449F2F8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UNCLEAR PERMITS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39C75-5E88-4172-A175-D38BC1DF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717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7306C-DE28-4996-876D-973F6166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B1B3E-44D1-4B8F-8ACA-D7EFE104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FRAGMENTED CONTACTS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252E7-2D28-40C0-A82A-15BCD26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DA46D-6CAC-4E33-BF8A-26FCA16B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1314E-17DF-47BC-BA8C-C085D8D9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718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LIMITED LOCATION PACKAGING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C14C0-E7C9-48F8-AB9A-A5024190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BD4E9-23DA-4887-B535-F3A429E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5FE37-2F27-42A1-B813-297FD3C8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UNRELIABLE FIXER NETWORKS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F56C1-A466-4D40-8353-EB4D89F0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AC354-492E-4121-B950-8C8462D5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10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4E0BD-10A7-4294-8EEF-85486C5F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00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WEAK DOCUMENTATION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8356D-F09C-4171-8377-DD82747C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273C2-B940-426C-B963-0FD4477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100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DC079-AEDC-419F-BE07-7DD98FB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100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VENDOR, HOTEL, CREW AND TRANSPORT COMPLEXITY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E5AC3-F31A-4D83-A543-1C9461FD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Problem statement from updated deck content and Film Ceylon service pages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6C19C-ACE5-473C-AA6F-23D966AD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23237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D479-982D-4059-8828-7E04D69F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B41A1943-B251-41A0-AED3-993A6F0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F528D20F-F023-461D-AB26-EB672CAF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REGULATORY 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84B5C-9047-49FA-88EB-2D1B382D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FORMAL APPROVAL CREATES A NATURAL ROLE FOR A LOCAL PRODUCTION PARTNER.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77D36-90D2-4394-AB2F-6B35913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4FE42-49B9-4660-BA07-A17FD44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1. FOREIGN CREW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E4950-BD3A-4289-8FB0-0545B8E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Professional filming requires formal approval and media-visa compliance.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46BCF-9935-4AE0-A9A7-172A4A97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568FA-5EB7-45E5-AFA1-A890F7D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2. LOCAL PARTNER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53F65-5D87-4BE5-AA7D-ABD52116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NFC encourages foreign applicants to use professional local production companies or fixers.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68FE3-382E-458D-B2C1-98198F88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FEEE1-D694-4628-9086-5E6428DD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3. EXTRA APPROVALS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86D61-D3F7-44FA-A220-EA69C12E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Main NFC permission may still require location-specific approvals.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88978-ED71-4A0C-B9BF-5BAC53F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E1C21-949C-434C-9279-327BAABE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Film Ceylon's opportunity is to make regulatory navigation producer-friendly and investor-readable.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283CE-FFF5-4E37-9F98-2F72643B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National Film Corporation foreign filming guidelines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6E8C6-F7BF-4CBC-AAE2-C2CCF1CC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12490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2FA16-57C8-4065-BDED-FD1EE227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6CA0DBA1-3CFC-409E-A7C1-40AE9E56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5CD32B5-5309-49B6-8E9D-98BDB3C6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8642A-7C36-44F5-BFD8-CD0CBA8C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FILM CEYLON BECOMES THE SRI LANKA-SIDE PRODUCTION PARTNER.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13813-A357-4AFC-B39E-8C6B9C31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57C8D-38E7-4997-96F4-F650B2FD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AD4A8-4F94-4585-90B4-13E19157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PERMITS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F1F07-E67C-480B-A6C1-23D69B0E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DE236-2BB0-4AB2-9C86-B3F493C1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D2BE3-6FCD-4B3B-8AC2-41A32895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2420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LINE PRODUCTION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08382-903E-4F90-850B-8750B281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EBF95-02B6-4703-AEDB-A88A92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98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A8A38-6BD6-4476-97FD-3AB8CE89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2420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LOCATION SCOUTING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7F589-836B-4019-9EFC-2BAD463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85419-7C1E-4DF0-BCC8-C40C302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FC1B6-B983-419D-95BA-9ED0A6DE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2420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CREW &amp; EQUIPMENT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C9CC3-A9C9-4EA0-A1B7-534AEB28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80FE1-4ABB-4368-911C-3D2788D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D32B6-6219-47CB-BF31-29A10459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2420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HOTELS &amp; TRANSPORT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731C3-7086-4698-A6B6-026F45E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16B81-9D03-4590-8B2C-6FEA8A5E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5FD66-D30A-40D5-B317-A8A36095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CASTING &amp; EXTRAS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B7D2B-D9C9-4A88-9075-3E8CAF5A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333F2-DC40-4501-B19A-5421BAF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481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C90E5-66A4-45E7-9C3F-1A732B39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6245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DRONE COORDINATION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F3980B-2AE1-4644-BB8C-C7B0D3D4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E148C-8882-4FFA-9304-56D9C900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481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92D0CD-762A-4E4F-8D2C-3B96B389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6245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FIXERS / TRANSLATORS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94F280-3628-4CD9-9E7A-F2AE2319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AFA5C-7DD0-4551-8096-501E81C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481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9B1108-9BEE-458C-9A18-34EC64FD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ACCOUNTING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347F2C-F4F8-4DEC-BE63-82DE5EB5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17804D-D0AF-48E6-98F8-B86368B0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481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6345C-BDA1-4688-BA9B-D3132934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VIP / REMOTE / SECOND UNIT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DCA0DB-4183-46EF-9F30-3F2F7F38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47BA55-5A31-4A45-B892-EFB4F8F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service is integrated execution: not just introductions, not just permits, not just locations.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FECEE5-C52A-4C32-8A03-C13BC0B6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Film Ceylon service pages and updated content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EE65E9-6E88-4681-BD74-081D70D6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029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AF658A-F83E-498E-BB32-16ED835C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B01DF694-B803-42B1-9D93-9F0AAAEB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A8A16B3A-487A-40C2-BD45-2600C242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BRAND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A5A58-2FCF-4FF2-93F2-B0FE9AD3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FILM CEYLON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B2657-201F-44E9-9E30-FCBB1BFC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POWERED BY RAVANA INDUSTRIES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0BA5E-7382-4430-8B07-B843F2A4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23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TRUSTED SRI LANKAN PRODUCTION GATEWAY FOR INDIAN, EUROPEAN, NORTH AMERICAN AND HOLLYWOOD-LINKED PRODUCTIONS.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23D64-6838-490B-BF2C-F88FE11C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66800"/>
            <a:ext cx="2190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00671-4296-4595-99D9-A4C43E6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6D1DF-6CA0-44FD-A481-16771939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619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Local access.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International standards.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Sri Lanka on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3DB2A-FC37-475E-9663-48987E37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28F27-9E92-4C50-ABFD-67A42D07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71975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GATEWAY, NOT GENERIC FIXER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1085E-960E-44DD-A0C8-B10418D7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updated content and Film Ceylon site positioning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660D5-8D18-4EB0-899E-633DCBC4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07129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B5C85F-7B39-4580-84DE-2112E462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2F3B2BD-152C-4AEB-9552-C5A437E0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4EA01AC-02EF-4780-ADC0-8E0F1FFA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TARGET MARKET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34BA4-DED9-472B-87B9-5C983BD7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590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INDIA IS THE FIRST REVENUE FOCUS.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A93E5-F62F-4E79-B104-9AB71D47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525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Daily Mirror cited Vijay Deverakonda shooting in Galle and Arcade Independence Square, plus Parasakthi filming at Kollupitiya Railway Station.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1A754-F4B3-42AE-9AEC-9B89FA23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42011-7338-4DC9-9F07-B69241D4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KOLLYWOOD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19F60-991E-41E2-9891-C5937C99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1D0CE-5B99-474F-82A7-2C3F6D16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TOLLYWOOD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F6312-80D3-43C3-8A94-495E4E55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8BC86-5CD8-4FDA-9B89-FC82F482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193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BOLLYWOOD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85F39-417B-4252-A257-BE46A328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BD9C4-9E35-471C-A2BC-6F7A4F3D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MALAYALAM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806FC-717B-40BC-94EC-4031A9B4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41100-D9B4-48C0-9C90-B5F88C24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KANNADA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B99A8-E361-4FBE-9564-31AC38F6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766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C8981-9AE4-44C3-9ECB-B680733E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195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OTT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29F61-073B-415E-BBB7-B4E678BA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83897-EE47-4075-AE54-690528FB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MUSIC VIDEOS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95385-307C-4A64-9EF8-5BE0866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EE849-6FF1-434C-A50D-3205500C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COMMERCIALS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CB2F4-DDB3-409A-AC2B-9DFB154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B5CC5-6621-46BF-8814-C6FB604E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828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Entry product: song shoots, overseas schedules, star logistics, crowd control and multilingual coordination.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A5B2A-E369-48FC-8BF8-CBB7CC9A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Daily Mirror, May 28, 2025; updated target-market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67B1B-4954-4C4F-B2BD-5704A7A2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7107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9AA8E-8FBC-4BB9-B0ED-41661789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54755E66-A217-45DA-A727-1394CE2D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A22561A5-1432-4EF2-AF5C-1398C044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TARGET MARKET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93F4A-E3CE-4E79-9B05-6540BB4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EUROPE BUYS TRANSPARENCY, COMPLIANCE AND FIELD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17690-63C3-4641-89C1-DD4E76CD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TRANSPARENT ESTIMATES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2B565-CEBB-4802-AA5A-DC45CBA8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RISK PLANNING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9819B-B399-42D2-BE5E-85429A67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WRITTEN AGREEMENTS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DC2CB-5193-4D5F-AFC3-917E35C5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RELEASE 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37B7D-D019-4874-82F8-A3382E8D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CULTURAL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8D534-AFC5-433B-91B8-DBE66EBF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187FE-CC9C-4DF3-B609-B18033E7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DOCUMENTARY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6D201-1682-4A05-8209-2F3FF253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FIELD COORDINATION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068A1-1D47-403D-A0E6-1035875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95550"/>
            <a:ext cx="2762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0DB6D-BC85-480B-AE2A-83C5E313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BEST SEGMENTS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2A0A2-6FC2-45ED-B1E1-37170892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Documentaries, public broadcasters, art-house films, NGO films, branded content and commercials.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2CC2F-EB62-43F5-BB74-10F252F9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0166D-4F29-4FB7-A535-1D8F875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388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Film Ceylon should sell Europe the comfort of paperwork, releases, research and cultural handling.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93661-C4E2-44F2-BC66-7103B3A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updated target-market content and Film Ceylon Europe positioning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25733-64E8-4707-8C6C-3A3764F8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83758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4A998-1158-4907-B1AC-C767BAA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6E3E9C61-DEDC-445A-A695-EF2319F7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8BF8011A-C6E0-4204-94C6-C1B07F8D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TARGET MARKET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FA64C-53DF-47C5-A59D-F0D4B188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NORTH AMERICA STARTS WITH DIASPORA, FACTUAL AND SECOND-UNIT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11C57-38BC-411A-A5BD-E8BAA51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B08A7-A4AB-41A6-9365-95B9223C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TARGET 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C80D6-57D8-47B8-A38F-19874372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Canadian producers, US indie filmmakers, South Asian diaspora films, factual TV and streamer documentaries.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638DC-1BFB-49B6-8A28-48B7FC1D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C0E96-9919-49A6-8A36-DF73CE25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ENTRY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B9EA3-A7BB-436E-AAE2-8948808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Diaspora stories, documentaries, travel/history productions and second-unit capture.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51C50-4E1F-4228-B97B-2BA38AD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BB5C5-E034-4868-9B1D-80308CA4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SALES ANGLE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21CE2-4FD5-4BEE-8E23-91DD11EE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Remote producer support, compact local teams, location packs and reliable daily communication.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4DC34-B5DB-4ECE-8D40-0576C402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updated target-market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D5566-FABF-4E5D-8EA5-DD20DE07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87602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662AA-299A-4344-9BF4-9175BC4D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4155D348-6FEE-4DF2-8A6E-D137BA39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AD110067-880A-4EEA-B1E5-0B2744C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TARGET MARKET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CF07F-02A3-47A8-A1BC-5B495421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HOLLYWOOD AND STREAMERS ARE A LONG-TERM CREDIBILITY MARKET.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EC17C-C1A5-4423-B9BD-8E281A48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8BAD1-E50D-4C15-9BBE-3DFE0CE6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SECOND-UNIT SHOOTS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DAF36-FBB1-4607-ABE8-7A587981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7A756-31CC-4C53-A396-C258AC13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955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ESTABLISHING SHOTS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E72D1-9781-447A-8E3E-720DA428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780EF-C139-4344-BDAC-C8DA7ECF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955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DRONE/LOCATION PLATES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2E26F-7572-4286-B19C-D9B8AF4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52DB5-33F2-4E73-ABAE-5581BC11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955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SOUTH ASIA DOUBLES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26722-4CB6-480A-B2FB-D0E4D5BA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55BF2-CB5D-40A8-A346-95B8AC59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DOCUMENTARY UNITS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B5344-CC2E-472C-83B5-C02489AA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0567E-99A3-4A9A-A4D8-0980738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385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TRAVEL/HISTORY SHOWS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C55E6-0B0B-4D5F-8628-CA0F3D25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41FCA-9E89-479A-AE5A-AF6B84C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385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STREAMER FACTUAL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30803-92C4-4686-8170-2341A5D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2AB14-22FE-40B7-B5F4-A7E54AE2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385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REMOTE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EC1F4-BC4E-4B92-81EC-0AAF923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885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E2322-4B97-4569-B639-F319EF17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path is not to chase studio features first; it is to earn trust through lower-risk production formats.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DD7C2-6DD9-4FFF-AED0-9D964F60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updated Hollywood / streamer target content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18376-07FC-467E-80EC-E1B5542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83576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84C562-2E86-4AB7-95B1-7AC8A292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6531C5F7-DCA3-4EAD-9B7D-62C0E29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5C7A05A9-AF72-4773-A8C7-512FEBD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165FD-8E5F-4857-B9B2-201C8961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TEN SERVICES FORM ONE PRODUCTION-CONTROL OFFER.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C765-35CD-4717-B60D-55139F71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39444-900C-4A82-82C1-C38DA88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497AA-97C7-492B-AD82-51E7A804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LINE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ABB38-55D2-4959-A2C9-9745D0BC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696E1-BE28-4F4C-B017-6E81167C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4C46C-AA69-495F-BFA5-B88972DA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289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FILM PERMITS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C8B23-D8E5-4297-8DDD-92F6ABDE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D5480-7442-44AC-AE9A-B88BB14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E9C26-7F4D-456F-8D26-A8C29437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LOCATION SCOUTING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BC393-B180-4026-A2F2-354AA1E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5FCA2-435E-42FA-9E27-91117C0A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4046E-0733-4427-A2C6-F38C0E1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CREW AND EQUIPMENT SOURCING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42790-CACC-4793-8B6A-1CD63AFE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BC146-1732-4CA8-A20C-0E694759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11BC1-CD40-4077-8F6E-D6910E33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HOTELS, TRANSPORT AND CATERING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D164A-AB4D-4363-B4BA-FEDC617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0C98C-A3AE-4353-A751-636D8679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3D094-D512-4947-80E7-36DC78E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67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CASTING AND EXTRAS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29A59-6966-4D17-994A-EEDB70C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C5E0A-8FCE-4BA2-9D88-55AC51FD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32DBE3-955A-40C7-9E45-590FD651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386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DRONE AND AERIAL FILMING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2BD83-90FB-4654-A031-F37D3E07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842B8-CE58-42AD-AC04-551574FA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C3F91-D56D-43F2-A61C-23F55516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00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FIXERS AND TRANSLATORS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94EB0F-E9C9-4CBC-B052-D6C8F12E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1CDF6-7D19-4931-93C3-6529F4ED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4895C9-9BA9-43CF-9D05-F65A3BF6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625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PRODUCTION ACCOUNTING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69511E-E2C2-4D59-8C62-FB11E066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AAF921-01B5-4BDE-B8C7-BA2EE40D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38800"/>
            <a:ext cx="590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865919-ECB7-4C25-8DA0-C1E6660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245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PROJECT-BASED OPEX PLANNING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8D6CAF-09E1-4868-B2EE-E392435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Film Ceylon service pages and updated content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7524BA-42D8-4D47-B10E-99AD70C8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960316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1D351-DB04-4C05-9145-311FD25B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5B9B3C94-D39D-4F4D-8326-0E529FA9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D713D87E-4F68-4C0C-AA71-89AFE32B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9901F-BDF4-4591-9C01-B11F2D9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REVENUE IS EARNED AROUND PRODUCTION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72A26-34E9-42CC-AAC0-FA5A3D2C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PRODUCTION SERVICE FEE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ADEE8-F2B1-48EB-87B3-D42D3F04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479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LINE PRODUCER FEE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424C7-C29A-4563-A540-61A35934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LOCATION SCOUTING FEE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8011F-9ABE-431B-B415-F5E61E5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VENDOR MARGINS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C44E1-240A-4B22-9FC7-8C2B2285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REMOTE / SECOND-UNIT PACKAGES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B65D7-6B7F-4B01-8A92-8A356C39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242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WORKING-CAPITAL RETURN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B737D-256F-4000-81B3-C5CAC417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FD7D3-A23D-4690-A8EF-8D0AD2D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Rs. 20M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BE8E8-8E28-4C41-BC4D-78AC427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LOCAL PRODUCTION SPEND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945CB-4234-4647-BC20-BB86300A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8A9ED-B41C-4AFC-B7AB-48297EC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577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15%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27CED-6A01-4CF7-AB87-A5E7EF94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SERVICE FEE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543F0-E3AA-4018-817B-5EB3BE8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29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2AECF-B068-499C-B1F3-C667F5B0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Rs. 3M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25452-626C-447C-A008-ED1C9E48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ILLUSTRATIVE REVENUE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F9464-3E59-4EFA-A24C-3BF7F1BA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updated content; example is illustrative, not historical performance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5EC6E-7315-4233-A8A1-A8933AEB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162338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370D4-3BC5-4B25-9F7C-912AE062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1A2406A8-82BE-4A9D-8300-56486DD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6BE15FB9-BF1A-49AB-86E4-717BB716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COMPETITIVE LANDSCAPE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7E484-900D-4E71-9908-20C9F125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EXISTING PLAYERS HAVE RELATIONSHIPS; FILM CEYLON MUST WIN ON STRUCTURE.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D196A-8E43-40B1-988B-0E7A1062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Differentiation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20466-64CF-45AB-A33B-D61EC78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9602E-EDDB-4691-B7BC-5F242E33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28950"/>
            <a:ext cx="361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72AFF-D9B4-42E6-8112-18533AE2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146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PREMIUM INTERNATIONAL BRANDING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04E0F-6853-464A-BACD-72D9C28D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B3EDA-96B5-4AF4-A1C5-2A4F9FC1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361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B8A64-0AAA-4B1F-954B-79D98406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14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CLEAR WEBSITE AND PRODUCER MATERIALS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8740B-98DE-4E69-A7FE-641CCFF5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EBC76-AA79-4D71-BD28-2182A4E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29050"/>
            <a:ext cx="361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706AA-E483-4596-A5EB-470A6C90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14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INDIA + EU + NORTH AMERICA + HOLLYWOOD FOCUS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AEEAC-3F66-4159-BA7A-85229774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7DE3D-DFF8-4ADD-BBAA-CD1D4CA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29100"/>
            <a:ext cx="361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8BEBF-E4E5-495C-A2EE-A0D1EF40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148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STRUCTURED DOCUMENTATION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AB623-A793-4E2C-9FC8-2C86A039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68569-C435-422A-83A3-8FC7A90C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29150"/>
            <a:ext cx="361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A1311-60D5-4A5A-8552-FBF44DA1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14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TRANSPARENT PRODUCTION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FA5A8-CA02-4F60-8794-80875BB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3983D-C88C-453F-898A-6D0981B6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29200"/>
            <a:ext cx="361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9530C-83F3-407F-A636-37D90063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LOCAL + DIASPORA CULTURAL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E5F4F-A276-4F25-B6EC-6DDC5AFF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6D586-77CD-4C4C-B778-26E4858F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3619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3A2C87-B4F2-45FE-A004-AB624DAF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149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TOURISM AND LOGISTICS 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8797A1-96A5-4823-87F1-84FC528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updated competitive landscape content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A61AE-326F-4A1D-B2C1-CEB791C8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9611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30B59-5387-4ED2-9408-8195BBDD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B7F21B33-1F2E-48FB-A028-DE634815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95F3E878-C391-441B-85C0-3E08C351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GO-TO-MARKET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69CA1-C9A8-40DC-8846-B33BA48B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19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BUILD CREDIBILITY, SELL DIRECTLY, THEN CONVERT INTO PRODUCTION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0D807-7E81-453C-AB08-ADC0336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D62CF-7E8C-4425-A89D-5788151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PHASE 1: CREDIBILITY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99B23-ABAF-4625-BE92-EB647FBF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Website, location library, producer deck, service rate card, permit guide, outreach database and vendor network.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1A484-49BB-4289-94F1-F7A8F5C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88339-4E8A-4889-95CB-494B982A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PHASE 2: DIRECT SALES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EDF46-EB8F-4874-A9B8-35F65CE1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040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Chennai, Hyderabad, Mumbai, Kochi, Europe and Canada/US diaspora producers.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F9909-B034-414E-BA31-7FE93453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F8AB1-9B48-4A8A-8E49-25411A5D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PHASE 3: CONVERT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B5011-4461-4B59-93D4-CD7406FA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Paid scouting, song shoots, documentary support, second-unit shoots and full line production deals.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19ECA-6459-4059-8327-EDB9AA01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1BD99-25B8-423A-A07D-2BC797DE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This is why strategic introductions matter as much as ad spend.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A68D4-255C-430F-9EA7-C35B0D7E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updated go-to-market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7936C-CEB1-458B-88D6-618CB996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6424486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B4243-9752-4D14-961D-EAB90BAD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10EFF463-F165-474E-889B-C161F9CA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20C6B971-96B6-400A-8D8F-F9AE7CE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STRATEGIC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E80CF-D7B8-4305-854C-DA13A736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 ARE NOT ASKING FOR A FIXED CASH AMOUNT NOW.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BB03A-552F-42C7-89F1-8A79D583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The ask is strategic leverage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5CB44-8995-4BFA-A8BA-5354FBE0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A46B9-4B3C-40B2-AE01-6BCCAEA0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ADVERTISING AND 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FACBB-03D8-45D4-90FD-EC17F35D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0F8B4-E39B-4784-A1FA-A6251F04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DIRECT SALES WITH PRODUCERS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6A365-80E7-4DB0-B39D-EAB43DF4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DE6B1-2E4E-4861-9AB7-F868C734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STAKEHOLDER INTRODUCTIONS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E080E-DECD-4E30-841A-041EAB2D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B32E8-ED25-440F-9C04-428D74C0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2420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HOTEL / TOURISM PARTNERSHIPS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390C2-0839-4F39-90B2-F58AC0B9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386A0-AF16-4F48-A30F-160E2DBA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FILM-EVENT PARTICIPATION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1A2C7-2142-4DDE-9E4B-E5C3BC63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A1677-0FA1-4EED-9202-A245E9A8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4810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GOVERNMENT / PERMIT CREDIBILITY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52328-EEAE-48DF-A964-329143E8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70AD7-BDCC-45CC-975E-0DD8A745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PROJECT-BASED OPEX AFTER SIGNED DEALS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9AF95-5D89-4188-A142-584B1A23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95950"/>
            <a:ext cx="4572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A00"/>
          </a:solidFill>
          <a:ln xmlns:a="http://schemas.openxmlformats.org/drawingml/2006/main" w="14288">
            <a:solidFill>
              <a:srgbClr val="FF4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7F1B1-3723-4275-8A4A-DFA056B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43575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CAPITAL DISCIPLINE: OPEX ONLY AFTER SIGNED DEALS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01A12-B115-4926-B875-DBD0D0D1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updated strategic support required content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6B84B-62C9-464B-BE4C-A783D2CD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396429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CC9BE-EDE7-4E5F-80AF-0EB44931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55FC28CC-FACC-4E21-B3D6-12247F6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0CD8B165-9104-46D3-AC47-ED17151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PROJECT-BASED OPEX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045DF-2C81-4213-83F1-57C678E3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OPERATIONAL FUNDING IS REQUESTED ONLY AFTER A DEAL IS SIGNED.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815B9-8774-483B-A093-DAF03FA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35A66-048A-4E51-AAAC-95168EC6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1. SIGNED DEAL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3191A-63B4-4006-B2F9-34B29CE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Confirmed production contract or advanced deal stage creates the funding trigger.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489CE-7A34-4A15-A83A-9F8B084D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84BDE-9C3D-4A05-9C8C-88E03666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2. OPEX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C942D-C735-409F-88DC-57A10EC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Short-term operational cash covers mobilisation before client cash catches 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B798D-2C75-4A96-997E-596EFCBC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FDB6B-B458-4410-8701-07A535E1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3. RISK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9F004-16BB-493A-9682-597F5B18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Investor support is tied to confirmed production contracts, not open-ended burn.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357E1-7E06-4325-8FA4-EEDFB987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VENDOR ADVANCES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60EA8-1728-4AD4-9D86-62359939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HOTELS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74CC5-BCE8-44DA-B532-422AAF30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435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TRANSPORT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BBFE8-CD89-4880-874E-E3E9B06D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435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CREW MOBILISATION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28057-C20C-4C48-971C-C99EF51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LOCATION PAYMENTS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27B1F-E4D7-44AB-A0B0-F64D7AFD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67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PERMIT-RELATED EXPENSES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637C0-5E29-44F8-B941-F6C575C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67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PRODUCTION OFFICE SETUP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D79BD-0BBD-4607-964C-6C7823C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67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EMERGENCY CASH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A89E1-DDCD-4586-B969-AE708A38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updated project-based OPEX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83F9F-D135-4DFC-B145-EFB5FD21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2019381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371DD-DAA6-4B7B-A90F-7017632F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FD16E274-EA8C-4FDC-9455-00C4CD98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9DA057D7-026F-40FB-A483-7E9AD386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7FDE1-7B1C-48E4-8400-50C043B6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FILM CEYLON IS A LOW-CAPITAL, HIGH-LEVERAGE OPPORTUNITY.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F9ACD-31D4-40AE-B826-AC422AF7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E2E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5E2E1"/>
                </a:solidFill>
                <a:latin typeface="Avenir Next"/>
                <a:ea typeface="Avenir Next"/>
                <a:cs typeface="Avenir Next"/>
              </a:rPr>
              <a:t>We are not building a studio or buying expensive equipment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45406-BA5D-4D4B-9D38-62E2210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140B9-1C64-4B60-BA53-DCBE3D1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37EA2-E9F1-409F-8CF9-2CC0EA4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BRAND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5F7F2-FF38-4F39-A632-CDA6E3D1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E02BF-4310-48F7-BD90-C55D1F83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FBE2A-0257-44AB-B10B-698DE21A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575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PRODUCER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47986-B9BE-4812-9920-96EDB99E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8B4E0-8BB4-4776-8889-BD00C4AE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290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C9195-6E6F-4150-AB5A-435F238F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147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STAKEHOLDER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3DA44-F8AB-46C5-88E9-E051A50F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719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F757D-90A1-4B1B-A9DF-6A3614FB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862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C4297-D136-4152-B2C2-21B1DD44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719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LOCATION CATALOGUE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AF933-49C0-4C6B-BC10-8890B1D6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CC48D-8023-48AF-8328-29B9C5DE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43475"/>
            <a:ext cx="285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6A724-9FB1-4C0F-A200-BB6CEB70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291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INTERNATIONAL TRUST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D6363-992F-483B-BD7C-4F1AB512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857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63AD9-764F-4F2F-A577-052DE93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GOAL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6D562-7C0B-4544-8999-25F4D93E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047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Make Sri Lanka a recognised production destination and make Film Ceylon the trusted gateway.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84785-D290-48C8-9F15-9138DF5F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4095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4A00"/>
          </a:solidFill>
          <a:ln xmlns:a="http://schemas.openxmlformats.org/drawingml/2006/main" w="14288">
            <a:solidFill>
              <a:srgbClr val="FF4A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54DFE-2E80-46BA-B897-C6A4E582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386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LOCAL ACCESS. INTERNATIONAL STANDARDS.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BB1411-1F02-4358-8AFF-C465BDF4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Closing thesis from updated deck content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8D25B-5D8A-4655-AC49-76EC510D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17339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2026-05-20T11:37:47.9060000Z</dcterms:created>
  <dcterms:modified xsi:type="dcterms:W3CDTF">2026-05-20T11:37:47.9060000Z</dcterms:modified>
</coreProperties>
</file>