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216ecc38d54d00" /><Relationship Type="http://schemas.openxmlformats.org/officeDocument/2006/relationships/extended-properties" Target="/docProps/app.xml" Id="Re4362d95373e4e81" /><Relationship Type="http://schemas.openxmlformats.org/officeDocument/2006/relationships/officeDocument" Target="/ppt/presentation.xml" Id="R7de32cd86b984a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c4786e2d34eff"/>
  </p:sldMasterIdLst>
  <p:notesMasterIdLst>
    <p:notesMasterId xmlns:r="http://schemas.openxmlformats.org/officeDocument/2006/relationships" r:id="R287562e43c89437b"/>
  </p:notesMasterIdLst>
  <p:sldIdLst>
    <p:sldId xmlns:r="http://schemas.openxmlformats.org/officeDocument/2006/relationships" id="256" r:id="Reb632345de084c91"/>
    <p:sldId xmlns:r="http://schemas.openxmlformats.org/officeDocument/2006/relationships" id="257" r:id="R71e5c70fa0944d0b"/>
    <p:sldId xmlns:r="http://schemas.openxmlformats.org/officeDocument/2006/relationships" id="258" r:id="Rdd5ef11c9aa2440e"/>
    <p:sldId xmlns:r="http://schemas.openxmlformats.org/officeDocument/2006/relationships" id="259" r:id="R4a9024cd2b0441c1"/>
    <p:sldId xmlns:r="http://schemas.openxmlformats.org/officeDocument/2006/relationships" id="260" r:id="Rf69f2a9f37834275"/>
    <p:sldId xmlns:r="http://schemas.openxmlformats.org/officeDocument/2006/relationships" id="261" r:id="R604f9d25a98e4602"/>
    <p:sldId xmlns:r="http://schemas.openxmlformats.org/officeDocument/2006/relationships" id="262" r:id="R1fe1bec34d1f4c8d"/>
    <p:sldId xmlns:r="http://schemas.openxmlformats.org/officeDocument/2006/relationships" id="263" r:id="R1f57e46ab4284544"/>
    <p:sldId xmlns:r="http://schemas.openxmlformats.org/officeDocument/2006/relationships" id="264" r:id="R339862b0cc7f4c17"/>
    <p:sldId xmlns:r="http://schemas.openxmlformats.org/officeDocument/2006/relationships" id="265" r:id="Re12e4fd1625a4f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7c4786e2d34eff" /><Relationship Type="http://schemas.openxmlformats.org/officeDocument/2006/relationships/theme" Target="/ppt/theme/theme1.xml" Id="R56d52932f19e4a0e" /><Relationship Type="http://schemas.openxmlformats.org/officeDocument/2006/relationships/notesMaster" Target="/ppt/notesMasters/notesMaster1.xml" Id="R287562e43c89437b" /><Relationship Type="http://schemas.openxmlformats.org/officeDocument/2006/relationships/presProps" Target="/ppt/presProps.xml" Id="R740819ffd06f485d" /><Relationship Type="http://schemas.openxmlformats.org/officeDocument/2006/relationships/viewProps" Target="/ppt/viewProps.xml" Id="R77d87aa562fe4139" /><Relationship Type="http://schemas.openxmlformats.org/officeDocument/2006/relationships/tableStyles" Target="/ppt/tableStyles.xml" Id="R1da2a7c2b0e448a3" /><Relationship Type="http://schemas.openxmlformats.org/officeDocument/2006/relationships/slide" Target="/ppt/slides/slide1.xml" Id="Reb632345de084c91" /><Relationship Type="http://schemas.openxmlformats.org/officeDocument/2006/relationships/slide" Target="/ppt/slides/slide2.xml" Id="R71e5c70fa0944d0b" /><Relationship Type="http://schemas.openxmlformats.org/officeDocument/2006/relationships/slide" Target="/ppt/slides/slide3.xml" Id="Rdd5ef11c9aa2440e" /><Relationship Type="http://schemas.openxmlformats.org/officeDocument/2006/relationships/slide" Target="/ppt/slides/slide4.xml" Id="R4a9024cd2b0441c1" /><Relationship Type="http://schemas.openxmlformats.org/officeDocument/2006/relationships/slide" Target="/ppt/slides/slide5.xml" Id="Rf69f2a9f37834275" /><Relationship Type="http://schemas.openxmlformats.org/officeDocument/2006/relationships/slide" Target="/ppt/slides/slide6.xml" Id="R604f9d25a98e4602" /><Relationship Type="http://schemas.openxmlformats.org/officeDocument/2006/relationships/slide" Target="/ppt/slides/slide7.xml" Id="R1fe1bec34d1f4c8d" /><Relationship Type="http://schemas.openxmlformats.org/officeDocument/2006/relationships/slide" Target="/ppt/slides/slide8.xml" Id="R1f57e46ab4284544" /><Relationship Type="http://schemas.openxmlformats.org/officeDocument/2006/relationships/slide" Target="/ppt/slides/slide9.xml" Id="R339862b0cc7f4c17" /><Relationship Type="http://schemas.openxmlformats.org/officeDocument/2006/relationships/slide" Target="/ppt/slides/slide10.xml" Id="Re12e4fd1625a4f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8ae98cb56cf4f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57dde5ef7a41fd" /><Relationship Type="http://schemas.openxmlformats.org/officeDocument/2006/relationships/notesMaster" Target="/ppt/notesMasters/notesMaster1.xml" Id="R5e0d1bde9cc040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f1b20d6a64721" /><Relationship Type="http://schemas.openxmlformats.org/officeDocument/2006/relationships/notesMaster" Target="/ppt/notesMasters/notesMaster1.xml" Id="R1cb36846f3db4b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c1583d8bbf4539" /><Relationship Type="http://schemas.openxmlformats.org/officeDocument/2006/relationships/notesMaster" Target="/ppt/notesMasters/notesMaster1.xml" Id="R56acbee426d844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cb2201f13b4ac3" /><Relationship Type="http://schemas.openxmlformats.org/officeDocument/2006/relationships/notesMaster" Target="/ppt/notesMasters/notesMaster1.xml" Id="R39c2969fcbef4e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98cc42ce794693" /><Relationship Type="http://schemas.openxmlformats.org/officeDocument/2006/relationships/notesMaster" Target="/ppt/notesMasters/notesMaster1.xml" Id="R595f7c97cecb4c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2cde0123114f7f" /><Relationship Type="http://schemas.openxmlformats.org/officeDocument/2006/relationships/notesMaster" Target="/ppt/notesMasters/notesMaster1.xml" Id="Ra322dbd297154b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34bf3f73744aed" /><Relationship Type="http://schemas.openxmlformats.org/officeDocument/2006/relationships/notesMaster" Target="/ppt/notesMasters/notesMaster1.xml" Id="Rd67fe94b13d94c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ef95ca6d654af7" /><Relationship Type="http://schemas.openxmlformats.org/officeDocument/2006/relationships/notesMaster" Target="/ppt/notesMasters/notesMaster1.xml" Id="R4d716175059d4f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b3ba3d2869490f" /><Relationship Type="http://schemas.openxmlformats.org/officeDocument/2006/relationships/notesMaster" Target="/ppt/notesMasters/notesMaster1.xml" Id="R8733e8c16baa45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7ba2dbfce34c90" /><Relationship Type="http://schemas.openxmlformats.org/officeDocument/2006/relationships/notesMaster" Target="/ppt/notesMasters/notesMaster1.xml" Id="Rf61d76def84f4e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9447c5262c4a3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d85315ebf78414d" /><Relationship Type="http://schemas.openxmlformats.org/officeDocument/2006/relationships/slideLayout" Target="/ppt/slideLayouts/slideLayout2.xml" Id="Rdde36b7c8f3a47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e36b7c8f3a47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a0bd284d2a4f3b" /><Relationship Type="http://schemas.openxmlformats.org/officeDocument/2006/relationships/notesSlide" Target="/ppt/notesSlides/notesSlide1.xml" Id="R1ce65550557143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08fdf3a4ac4f29" /><Relationship Type="http://schemas.openxmlformats.org/officeDocument/2006/relationships/notesSlide" Target="/ppt/notesSlides/notesSlide2.xml" Id="R61cc776ead7c4b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131c029124ebb" /><Relationship Type="http://schemas.openxmlformats.org/officeDocument/2006/relationships/notesSlide" Target="/ppt/notesSlides/notesSlide3.xml" Id="R1105a1d0391b43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58a4b9db0417a" /><Relationship Type="http://schemas.openxmlformats.org/officeDocument/2006/relationships/notesSlide" Target="/ppt/notesSlides/notesSlide4.xml" Id="Rb94046b1ef7240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2f7b4a44a4ac5" /><Relationship Type="http://schemas.openxmlformats.org/officeDocument/2006/relationships/notesSlide" Target="/ppt/notesSlides/notesSlide5.xml" Id="R18380932d44342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d7cf269b33417b" /><Relationship Type="http://schemas.openxmlformats.org/officeDocument/2006/relationships/notesSlide" Target="/ppt/notesSlides/notesSlide6.xml" Id="R3aac6bc0e7ad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6b796b28fa34069" /><Relationship Type="http://schemas.openxmlformats.org/officeDocument/2006/relationships/notesSlide" Target="/ppt/notesSlides/notesSlide7.xml" Id="R7d99033eb9d648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951ae00d244473" /><Relationship Type="http://schemas.openxmlformats.org/officeDocument/2006/relationships/notesSlide" Target="/ppt/notesSlides/notesSlide8.xml" Id="Rc0946b1892304f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e390390c24899" /><Relationship Type="http://schemas.openxmlformats.org/officeDocument/2006/relationships/notesSlide" Target="/ppt/notesSlides/notesSlide9.xml" Id="R96791221fb5848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d9bbc237e4c30" /><Relationship Type="http://schemas.openxmlformats.org/officeDocument/2006/relationships/notesSlide" Target="/ppt/notesSlides/notesSlide10.xml" Id="R204a5d3b1edf4e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B86C32-AC5A-4FCF-8376-3B780A8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A7591-D757-4155-A91F-EA15F445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6CFEA-04BF-4F3D-BAC5-33D915EF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0"/>
            <a:ext cx="3771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1B617-EB89-4136-99BD-A61DC23E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C36B6D65-BE61-4B31-9B7C-DDEB25C9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9A0063F9-615E-4044-B7C1-647BE3AE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INVESTOR PITCH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730CA-7354-480F-A3BC-B122D044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FILM CEYLON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8AA1D-145F-457A-B00F-0C37036E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723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42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SRI LANKA LINE PRODUCTION NEEDS A SHARPER GLOBAL FRONT DOOR.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BE47C-B497-40D3-8E04-0D41EFBC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666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6D2C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D6D2CF"/>
                </a:solidFill>
                <a:latin typeface="Avenir Next"/>
                <a:ea typeface="Avenir Next"/>
                <a:cs typeface="Avenir Next"/>
              </a:rPr>
              <a:t>A practical ask for a local Sri Lankan investor: fund the 6-month marketing runway, open industry doors, and support working capital only when a signed line-production job enters execution.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E0AC8-1C66-472D-B654-F188AFC4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3900F-421C-4BB0-8C78-19B39BCF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MARKETING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47A16-DAF1-46C1-BE0C-46971D1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LKR 200,000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3939A-5777-457B-8493-99D8F135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per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3022F8-B490-497A-A53C-125E6D96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05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C2D9F-599C-48CD-8B08-5B6D5E85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57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6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1D072-4A11-47E3-A0EE-EDC7EA8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TOTAL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40A910-A560-418E-A96E-133ECBE9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LKR 1.2M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014EE-BFFF-4EAA-B885-8EEFF6AD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57850"/>
            <a:ext cx="2628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C7BE6F-1DA6-4BF1-B69A-6D56E4B4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05475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PLUS INDUSTRY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11C8F9-FCC3-4B39-A00A-964D2C04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Film Ceylon site copy and user-supplied investor ask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F0B72-9A9A-4898-A6CB-95CD6613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3067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6B70D2-21C7-4A89-A2E4-12B9F0DC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FEB07F54-111A-40DA-AF28-5A221A28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A9F5A19D-F805-4BD4-970C-A16D633C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BOTTLENECK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73049-B7B8-4144-8435-A75DE964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23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3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FOREIGN SHOOTS WANT SRI LANKA, BUT LOCAL EXECUTION IS THE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DBCAE-6F2E-4372-B618-77F1817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334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Sri Lanka is visually strong. The buying hesitation is operational: can a producer land, permit, scout, shoot, account and wrap without uncertainty?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596FC-BB9F-45F0-9E77-D1A90CE6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0191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8B7A3-4C1D-4966-A4FF-CF9C4F0A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3FE51-F1E5-4315-98B2-791DE4B4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56112-B387-48E8-8C91-A1638E0A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PERMITS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A12D5-A665-461F-874A-2475137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National approvals, location-specific clearances, drone, police, traffic, wildlife and religious-site permissions.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C86B6-65C5-448D-B01C-F5E8D22C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3845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43CF9-CE6D-431D-9038-A103282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5F751D-9BEB-4F91-B274-105549E4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00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LOCAL RATES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E0EB8-2FAC-4202-811B-DE389BD1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Foreign producers need realistic budgets, vendor negotiation, cash handling and daily cost reporting.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078B1-4EAE-4125-A701-B0C8A5DF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9B230-9E64-43F3-9408-2543F12D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95305-6CE4-4194-B890-8C656690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2F989-F817-4CEF-AFEB-A8878E54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47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Crews need fixers who can manage Tamil, Sinhala and English field realities without losing compliance.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DF928-17F5-4075-903D-C604394D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38450"/>
            <a:ext cx="381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97A62-4E12-4A3B-8484-DC787F5F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82DF2-BE73-41AD-B35B-F1920F47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00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826CA-008D-4643-82B3-2787E09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147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Hotels, transport, crew, security, casting, equipment, catering and releases must move as one unit.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A149D8-BA2C-431F-AFAD-955116F5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6C5646-F8FA-40FD-90F8-3B516EEA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981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INVESTOR LOGIC: fund the sales layer that turns this friction into a managed Sri Lankan production service.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C854C-C6FE-469B-938A-A05F7BAB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Proof object: operational blockers listed across Film Ceylon permit and service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7386D7-A041-46F0-A764-0D33413C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45536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C0E0E0-D6D0-4A6C-BA24-D4E3078F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BD19D-D134-426D-9985-E6FE3618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6A3EB0A0-6D76-4FBE-AA5A-5490613B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11811295-9321-4159-B75B-56DE7852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WHY SRI LANKA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09653-1DA5-48CF-A06B-17D69B3F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191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ONE COMPACT ISLAND CAN PLAY MULTIPLE CINEMATIC WORLDS.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0BCFE-216A-45DD-844C-814FB22B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product is not one location. It is speed between looks.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EAD81-D08D-4482-B596-A05807C7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10CD-31DF-415D-B010-78C0D174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COAST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8527B-F61B-4CC4-93FD-A9AAA2A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Mirissa, Galle, Bentota, Trincomalee, Arugam Bay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5B0CC-0941-41FF-B3C8-A680B993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3409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2118D-573E-4993-85B9-E00E451F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HERITAGE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4848D-3791-4AA2-9B59-CC122D5A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Galle Fort, Kandy, Jaffna Fort, colonial rail stations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DA149-969D-4462-A1DA-914FF07C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53E7EE-9252-41C1-8190-E00720DA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HILLS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DFF22-2034-4EDB-9E0D-C5AE749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Ella, Nine Arch Bridge, Nuwara Eliya, tea estates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0C36F-20E6-45CC-A7EC-E8504BD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489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B80347-609B-4715-87D6-8CDAA087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91811-A0D4-4850-A591-A54D4EC7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Colombo skyline, Port City, Pettah, luxury interiors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D32C5-E458-4FA9-BCAB-649B16A3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5638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A046B-987A-4E22-9FDA-9C0632C7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NORTH / EAST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B49101-90A0-43E9-B198-99BB79D6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Jaffna, Batticaloa, Mannar, Tamil coastal villages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7B3E1-479B-4365-88A6-32668D973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638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6B50EC-80CE-41C7-81B4-C28AED60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WILD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A25676-72A4-48DF-AE06-AB56B4BA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625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Yala, Wilpattu, Sinharaja, Udawalawe, forest roads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F8F02-E956-4166-9921-D1A14A1D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8B0BC4-88CE-4C53-B50A-456AEB9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Film Ceylon packages that visual range into location packs, permits, local crews and execution plans international producers can approve.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5C43F-0B00-4969-B349-31462B6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Film Ceylon locations and home pages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F9B91-52CF-4441-954C-25438FB4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88428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A9BB6F-1591-4117-8B0A-62F98BDB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68F0AD59-85F4-4927-979B-0EB46EE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C053450C-3662-4A5F-82A0-B46A911E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3003D-8694-4749-A15C-4014338A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FILM CEYLON SELLS THE OPERATING LAYER BEFORE THE CAMERA ROLLS.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E1815-3B40-4F7A-A979-DE3D2F94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52500"/>
            <a:ext cx="3143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6D2C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D6D2CF"/>
                </a:solidFill>
                <a:latin typeface="Avenir Next"/>
                <a:ea typeface="Avenir Next"/>
                <a:cs typeface="Avenir Next"/>
              </a:rPr>
              <a:t>The company is not a location gallery. It is a local execution system for international producers who need a reliable Sri Lanka proxy.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FA04A-1B62-452F-B156-D33F07AB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971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1FBBF-0E17-4B7F-99D8-EE279C8C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FA6C1D-C3F0-4D33-8BE1-CDA18DC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1E16A-88CA-4DE4-BCF2-269C7AC1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INQUIRY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BE1F8-ACFA-4E4A-9161-8574DF4C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Script, treatment, song brief or documentary outline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9A54F-E8C9-44C9-AA8F-7D5D8E5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C6E6C-893D-42F3-BEB3-99818D33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BABB8-C263-41C0-8DDD-E368A0C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623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B6AEC-234D-4F5B-B19B-921B9D05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195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Location pack, budget frame, permit path and risk notes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559D6-2C3D-4443-BFAD-B92EED1B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6FE6F-3DE8-4BAA-8A63-B023A575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09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FBE51-B130-42EF-A825-971B0008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83A7C-7015-4E9C-ABAC-8D617FA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Crew, vendors, equipment, hotels, transport and casting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B0358-8DAA-4375-B1F3-1682C3BB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7B3030-E430-492A-90F6-C12E3A4F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9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29B99-180F-41AA-A89A-A9B986DC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623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SHOOT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D96EE-CE17-4B0F-BAD8-3EEAC74F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Daily production reports, cash control, releases and safety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915D5-861E-405D-BD50-3D1AD54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119C1F-9131-44C3-9605-F404C3D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AB66A-71E9-4BC2-A220-CC259FD5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623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WRAP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0A7BA-850D-4E9C-AF0C-5F146419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Cost report, vendor closure, footage logistics and next deal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450B1-C9AF-4046-9543-B5539B52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7680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5FB71-454E-4419-BB0C-7426A5CA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Core margin comes from managing the local production machine: budgets, vendors, crew, logistics, permits and production accounting.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2E2CC0-1AFF-4E06-B792-788A0256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Source: service scope across permits, line production, logistics, fixers and remote production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18431-3423-4048-9D09-D99CBFEC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72496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BDDD9-8CDA-44F7-AC8C-C559D419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B6395C0-E7F6-4605-BA67-CCAB639B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C79E70F0-7E70-4D85-BC6F-78E64272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BUYER DESKS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18886-0501-4C84-BF1F-BA8017F6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0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FOUR DESKS MAKE THE SALES MOTION SPECIFIC INSTEAD OF GENERIC.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A1A2F-B891-4F6B-9D7E-BBAD8BCD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990600"/>
            <a:ext cx="228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Each audience buys a different kind of 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99DA9-E181-4006-A71F-ADB2F094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9800"/>
            <a:ext cx="1009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D89F6-59E0-4630-B55D-7BE96DBD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1356A-AE56-46C5-AEBE-421FB3D0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62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INDIAN CINEMA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923AE-48D4-4CC1-BC02-176B3D1F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KOLLYWOOD, BOLLYWOOD, TOLLYWOOD, MALAYALAM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2AC69-F085-41D3-A490-F7DF6784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3790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Song shoots, overseas schedules, star logistics, crowd control, Tamil/Hindi/Sinhala/English coordination.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9E619-C66A-42EA-AD32-142454F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86100"/>
            <a:ext cx="1009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51E461-A871-4D4A-97EE-6238E4B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2CA0C-6524-432F-A038-192298C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HOLLYWOOD / STREAMERS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2CA10-466D-4D1E-95DE-1758713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575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US STUDIOS, STREAMERS, INDIES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A7BCB-5C8D-44CC-907A-ED5718D8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19450"/>
            <a:ext cx="3790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Second-unit, scenic plates, factual work, releases, NDAs, risk and cost reporting.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1FBC2-A685-4AB2-BB59-1B21A43E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1009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AA19A-981C-4815-AE2C-65E581E6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30002-DE7F-4A53-A60D-907B5E48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EUROPE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58320-113B-4C6F-8160-ECBB0A7F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338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DOCS, CAMPAIGNS, FACTUAL TV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406D4-EBE9-4421-ADB2-E6F815CA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95750"/>
            <a:ext cx="3790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Research access, transparent accounting, public-broadcast discipline and field-ready local crews.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2FE64-07D6-4EFB-A5D7-E7A4C10A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10096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BB3022-6C03-4F3B-9B01-220A4742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210E8-B890-47B6-BDA8-B8F75BBC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NORTH AMERICA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0FDC95-C4F2-4505-81AF-FB39365C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101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INDIES, DIASPORA STORIES, MUSIC VIDEOS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A4BE8-EB3D-40CA-9FCE-A5CBC2C5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3790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Remote producer support, location packs, compact crews and daily communication.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CB4A9-CB96-4FCE-AA14-786DA3BD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436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781D6-6D6C-4D84-A421-5748C677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198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MARKETING MUST TARGET DESKS, NOT EVERYONE.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F733D-B591-4B5C-89DF-18FB54C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Film Ceylon home, Indian Film Desk and Hollywood pages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C3C4F-D411-444E-B22B-A81BD5F5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66817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85C9BD-CAA3-4CEB-8C58-CE9C3782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37D13F1-EC8C-4FBE-8B3D-88C2DEF8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E51EC705-D47B-458C-9BEB-B0D55FF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BUSINESS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F0021-383D-4F0E-B388-EF30EB83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096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REVENUE IS TIED TO PROJECT EXECUTION, NOT PASSIVE DESTINATION CONTENT.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96559-82CE-47A6-87A2-C3B291E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52500"/>
            <a:ext cx="228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D2C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D2CF"/>
                </a:solidFill>
                <a:latin typeface="Avenir Next"/>
                <a:ea typeface="Avenir Next"/>
                <a:cs typeface="Avenir Next"/>
              </a:rPr>
              <a:t>The service ladder grows with production complexity.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29C63-F7BF-4DCB-ACF4-49C9E544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19812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8CCA1-924C-47D1-831E-6CC76607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7BB4B-0F81-463C-B7F5-ABAD8DBB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SCOUTING &amp; PERMIT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0CE62-FF45-4DD1-B346-B1FB287A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Location packs, permit path, estimate prep and producer confidence before travel.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02C05-F523-4B8D-9805-5D186D7E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19400"/>
            <a:ext cx="19812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CC5AA-C08B-41A2-91A3-B2F4BB74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7C9F6-40B8-4E4B-8051-4880B3D3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052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LINE 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C277D8-6ED9-43BE-A802-383C5238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7195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Budgeting, scheduling, local crew, vendors, logistics, cash handling and daily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77B27-6A49-427C-B9B5-98B06BCB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24200"/>
            <a:ext cx="1981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095EF-860C-4E3E-9312-CFD74AB8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BBED1-AAFE-4B7F-A6F4-BC7394F8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100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SPECIALIZED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7D35B6-6B83-412E-9543-95F9BDA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Casting, extras, drone, stunt, marine safety, VIP movement, translators and researchers.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5B896-F8FB-4BC3-9CCF-7568ACF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1981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D0E47-1FCB-48FA-A1C3-F80F5DAF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66316-2E97-4C2D-89F4-B2A322A3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148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REMOTE / SECOND UNIT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B3AF5-B8C5-45D5-8C5E-740B29BE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8155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915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Scenic plates, drone footage, pickup interviews and remote producer monitoring.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4330F5-5D96-45C7-83BB-68C093A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2930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7C1A4-7B9E-456F-9CD8-741A8E3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Investor takeaway: the first capital should buy qualified deal flow; larger working capital should be linked to signed production execution.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8253B-F470-4CAD-BF0B-A8CFCE67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Revenue ladder inferred from Film Ceylon service scope; no historical revenue supplied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1185B-1E6C-4139-875C-90D0D51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5660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BD707-9CD2-44CB-A479-E9738B15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B124E194-2B3C-4C65-9BFA-0FE459EC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2894624-D4FB-4FD3-B194-18802744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USE OF FUNDS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0C8C1-A00D-47C2-9401-723FC199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810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LKR 200,000 MONTHLY SPEND IS A LEAD-GENERATION MACHINE.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40B83-004F-4C36-85AB-E58539BF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9144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LKR 200,000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0BFBB-DE6A-4616-B9F4-BE7D82B9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287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PROPOSED MONTHLY MARKETING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36DBE-26F5-430C-9AB5-6E8190AE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Digital lead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85991-F872-4C86-B139-5D625F86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9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98AFC-7ACC-4AB5-B5ED-A0EDAF6C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00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59829-33F6-458D-8F4D-9E59EE99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LKR 70,000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71CE2-CD6D-4890-B8D9-A087DAEF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Search, social and producer-targeted campaigns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B2C936-284A-47D9-82AA-A905037B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Content and proof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D6F57-E297-4A5A-8ADD-76E6E571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480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9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217984-2EB6-45DD-A2B3-D8DF4204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48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D8AD9-D6A4-4CA6-88D0-863C0B48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28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LKR 45,000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BB0FA-E9BF-4951-BF83-DF78017D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Location reels, desk pages, pitch collateral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DEC1CB-CCA2-42AD-8C57-620A29EB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Outbound and relationships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33EC36-DF13-4885-A34C-D102EF0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957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9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35F56-53DC-4ED1-B238-47FFC1C9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95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2677A-D163-4896-B7A5-297159B2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766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LKR 40,000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4683D5-7582-473B-923B-8593D6F6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Producer lists, calls, local introductions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058936-422C-4697-95D6-FFE60AFF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Location database/media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6365E-F14C-4C29-8A3F-3E00929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9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F794CD-A441-4F63-8CE8-2196AFEA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126E8F-1D8A-4DAC-B377-FA5EDCF2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24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LKR 30,000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D7DA3-19C5-4E70-845A-5344CCA2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Scouting reference, travel, sample packs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B3429-0485-474A-AE1E-9700E24B9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CRM and admin collateral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9F2D98-FCE8-4A0C-8D3F-C5ECB6CC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911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9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FA64E-31D7-4654-8736-D6207422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91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7233B0-A210-4F8F-A011-E1D40EB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720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LKR 15,000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CDB6A7-66D0-43F8-AFD7-E3FB0B56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Lead tracking, proposals, basic tools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ABC46C-8BBE-4164-9D82-9C459D7B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3B20CA-0993-45DA-8164-71CC4E25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Six-month total: LKR 1,200,000. This is proposed operating spend, not founder salary replacement or open-ended working capital.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1E10B0-0844-4F2F-B001-7C9335CD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user-supplied ask; allocation is a proposed operating budget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FBE9B7-F10F-453C-8509-49E261C6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343866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25DAB9-FFA0-44A0-BD6D-4FB815EB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B3FE127A-C6FA-4591-A96B-7B78AA41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31A805A2-E680-4BB6-8B0E-2956506A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SIX-MONTH RUNWAY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F56A1-5BDD-40BF-B10D-3A8055BF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429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RUNWAY SHOULD PROVE RHYTHM BEFORE BIGGER CAPITAL IS CONSIDERED.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3D605-9777-421B-92C0-31ACE4A1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257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D2C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6D2CF"/>
                </a:solidFill>
                <a:latin typeface="Avenir Next"/>
                <a:ea typeface="Avenir Next"/>
                <a:cs typeface="Avenir Next"/>
              </a:rPr>
              <a:t>Treat the first six months as an operating experiment with visible weekly 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D114B-D762-425C-9793-27621C62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9753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E5365-FA07-4CA3-9F8E-85CCE5F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BF6C83-D37D-4DB0-B3E7-F93C97F0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75E08-61A1-4317-91C8-766AF39D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7C920-CAAF-4BBD-9659-00642F6F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672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Campaign setup, CRM, producer lists, core collateral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21EE2-296B-4417-BB39-B5C196C8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B5BF1-7C9F-4FD8-81A1-55D80613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813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FA77C-3169-4A25-AC55-4C6607C5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39A5D7-41CE-4CE0-A8F8-BEC759CF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672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Location packs, desk-specific outbound, estimate templates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704D3-4DE1-4F2F-A0C0-02DBDEBE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94295E-4831-4C82-8AB8-E462616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813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1B8B8-67C6-49EF-8B04-34992D0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Lead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50537-6A0B-462D-ADDA-42599C6F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Qualified calls, follow-ups, local partner introductions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378BEE-E013-402A-8E6F-A3B23885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5AAC3-E647-4BAF-8575-34CA2BEC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8E95C-ABA4-4BCD-887C-4BEBFF89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Conversion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04CECC-6BE2-4D6D-A784-D00FF88E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672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Proposals, scout support, permit-path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D1CCE2-F938-4FEE-B2BE-1FC13AE9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E7576-A945-4D05-9BD3-89280308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813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M5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98F88-9036-4235-BCD2-5884FD5E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Deal shaping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EBD681-A5C2-4D73-AB1C-8D96185B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Shortlist active productions and budget scenarios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016301-A98C-451A-A3B7-9EAFB255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3EF54-6FDA-4877-A36A-486BB2F5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813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M6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048378-2615-486B-ACBC-B001607B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Investor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BE6219-3771-470B-8FF9-B9DFF731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Review pipeline, spend efficiency and next capital need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DCB0CB-E80D-47B2-8C59-145F8419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18B200-94E1-41A1-8677-ED2B1B4E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959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REVIEW BEFORE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105B6A-40AB-4E89-AA55-F85AA20D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388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D2C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D6D2CF"/>
                </a:solidFill>
                <a:latin typeface="Avenir Next"/>
                <a:ea typeface="Avenir Next"/>
                <a:cs typeface="Avenir Next"/>
              </a:rPr>
              <a:t>Next capital should be based on qualified pipeline and signed production needs.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129A4A-775E-4CBD-8FEA-CF0885FBD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Roadmap is proposed execution plan; no current pipeline metrics supplied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C5640-C965-4EDF-A6FB-2925AE68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83051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873861-F503-4094-BE4F-19E26EA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D3C1C7DB-2DEA-44A3-B84F-4A445A8A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3095BC8E-CA1D-455F-95E5-D1FE2212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INVESTOR 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F439B-80A1-463A-B005-ACD99EDC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810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THE INVESTOR IS NOT JUST FUNDING ADS. THEY ARE REDUCING LOCAL EXECUTION RISK.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B10D1-FF46-4E1E-92CF-0698538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5EBC1-F82D-4632-8ECE-0795378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72379-0709-4848-AC97-1E5866F0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955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CAPITAL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84031-43BF-4938-9663-D8257BA9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146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Fund the LKR 200,000 monthly marketing engine for six months.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19584-60BF-4B04-B6EF-9DC841BE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66A42-C411-4030-9D14-446AFB8A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671C9-7FEE-4239-9AAC-00A1FD99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9555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INDUSTRY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ED994-9200-4A4F-8257-528DB13E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146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Open doors to tourism, hospitality, location owners, vendors, government-facing contacts and local business networks.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D3C14-61FB-40F1-BB15-4BA550E0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1BF70-374C-4A10-A08B-029FE193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2622F-1BCD-4EDA-98FF-40F4E6E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291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CREDIBILITY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9DBE2-6663-48EE-A4BC-5D18F402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Help position Film Ceylon as a serious Sri Lankan production partner, not an informal fixer network.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BD6BA-2BFF-4526-BCB0-5A293E7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723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22F18-D7AD-40F7-AF43-04346DD8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146A6-A09A-4F46-A65A-350395C7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DEAL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48919-1786-4F77-BF67-A5E5043E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4820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Provide working capital only against live line-production jobs where timing gaps must be bridged.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C4CDB5-CD29-456A-B275-85FF2CE7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81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E58BE6-B295-4E91-A891-4536EC22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88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Best-fit investor profile: Sri Lankan business operator with access, patience for a six-month demand-building cycle, and discipline around deal-linked capital.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23A2E3-93D8-46EF-9D2F-93A52555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Source: user-supplied ask plus Film Ceylon operating needs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26D6F-0260-4A15-916E-76DC45C4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904518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9D3DC2-8E5B-43B8-95BE-6E667B38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D6B06BE1-7C98-49BE-B817-DCF93A03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42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69DEDF1-1568-4E9C-A669-A34E20A6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DCEF8-C237-49D8-9AF8-ECAB210C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6858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STAGE THE CAPITAL AROUND WHAT IS KNOWABLE.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ECA35-A761-454C-9A9C-D5F09C2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9715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D2C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D6D2CF"/>
                </a:solidFill>
                <a:latin typeface="Avenir Next"/>
                <a:ea typeface="Avenir Next"/>
                <a:cs typeface="Avenir Next"/>
              </a:rPr>
              <a:t>Marketing is fixed. Working capital is conditional.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288C7-D1CC-46EC-AE64-4D534CBC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3143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26B15-9AF6-4C89-891D-BF05F3B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IMMEDIATE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DBE29-63C1-4C3C-ADB8-53CB823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4A00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4A00"/>
                </a:solidFill>
                <a:latin typeface="Avenir Next"/>
                <a:ea typeface="Avenir Next"/>
                <a:cs typeface="Avenir Next"/>
              </a:rPr>
              <a:t>LKR 200,000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7220B-3483-4DE6-BF38-A6BE1B84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per month for 6 months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EF80D-79AC-477E-B26C-C5F0A45D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2DB621-902E-49C2-8AE4-DB2934A8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Funds a controlled marketing runway: paid campaigns, content, outbound, location proof assets and CRM.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A79359-2E3E-4B6A-899E-C469A331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3143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CD22D-07A4-4B5A-98BE-4A084B61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NON-CASH REQUIREMENT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948B7-85F7-435A-B514-EA09A02E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INDUSTRY</a:t>
            </a:r>
          </a:p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BB19E-0C6E-44D2-B244-908CC58B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148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8FD699-1C47-4476-A79B-596FA7A9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2435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Introductions to production-adjacent operators, hospitality groups, location owners, authorities and vendor networks.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E7D88-EBC1-427E-8503-6A556F70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31432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5AFFC-E8D2-4436-BA16-D7251E9E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737373"/>
                </a:solidFill>
                <a:latin typeface="Avenir Next"/>
                <a:ea typeface="Avenir Next"/>
                <a:cs typeface="Avenir Next"/>
              </a:rPr>
              <a:t>CONDITIONAL SUPPORT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DF2EB-7199-4DE2-B4B1-0CFE2ADF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670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WORKING</a:t>
            </a:r>
          </a:p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11111"/>
                </a:solidFill>
                <a:latin typeface="Avenir Next"/>
                <a:ea typeface="Avenir Next"/>
                <a:cs typeface="Avenir Next"/>
              </a:rPr>
              <a:t>CAPITAL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3962F-0525-45A4-8D77-AB00767C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6B176-8DAC-4057-AB34-774F9EA0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2435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C1B1B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1C1B1B"/>
                </a:solidFill>
                <a:latin typeface="Avenir Next"/>
                <a:ea typeface="Avenir Next"/>
                <a:cs typeface="Avenir Next"/>
              </a:rPr>
              <a:t>Triggered only when a line-production work is in deal or execution and the project needs cash-flow bridging.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A474C0-2B45-454F-9CE9-179337E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562600"/>
            <a:ext cx="5219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9050">
            <a:solidFill>
              <a:srgbClr val="FF4A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8A7E5-08DD-4CF0-8603-BEEC7341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10225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4F4F0"/>
                </a:solidFill>
                <a:latin typeface="Avenir Next"/>
                <a:ea typeface="Avenir Next"/>
                <a:cs typeface="Avenir Next"/>
              </a:rPr>
              <a:t>DECISION GATE: SIGNED / ADVANCED PRODUCTION DEAL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A10CD-6974-4B87-8995-9472AFB7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Final ask based on user brief: monthly marketing, industry support, and deal-linked working capital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6DCC1-AFC6-45C4-84BB-16B1D92F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BDB8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67721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2026-05-20T11:15:36.1650000Z</dcterms:created>
  <dcterms:modified xsi:type="dcterms:W3CDTF">2026-05-20T11:15:36.1650000Z</dcterms:modified>
</coreProperties>
</file>